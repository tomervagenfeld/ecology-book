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4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B6E10-605E-45A7-83C4-45094A8BA78F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BEDC5-3857-428B-AF41-1C1364393CB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327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CD5A674B-673C-4DA5-BDDF-6658AE201C67}" type="slidenum">
              <a:rPr lang="he-IL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1022589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3CC22-AC25-4465-AB58-6B54C3DD1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3CB33-1E22-4831-9B7D-AE2FFB565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A8FC5-7968-4C1F-9811-649FE739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7B94E-BCA9-410B-99C3-5D98A34BB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08AD9-A8D8-4BE3-8583-CA5F9371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608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1EA12-F2F5-4D2B-AD99-E1EE41B8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F8FD1-C5BA-4B06-A292-659840A32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F4BA1-0209-4C81-BCD2-EB249737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0DB1-E7C4-444A-8AFA-8186149F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97DDD-11A7-4919-842D-80E5A1C0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805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B4306-6703-47D7-B688-5907CC9E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703B8-E127-4632-AFF2-70D566168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DF0E-CFC5-4FCB-9CF3-E89F3960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7CE63-0F01-4D1D-BDCC-D58C2537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689D-63D0-48B3-B119-38041464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00437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C095A-821F-40B4-885F-B9E58E8FE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F5AE-19EB-4B1C-B0C3-F27A5698E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BC45-B2FE-4AE7-9C73-6E32B505B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2D3D6-D1A8-4422-A0C3-4FE7DE07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8CAC9-E450-4894-AD6D-9BC79038D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997C7-704C-4E29-BDDC-D0024EA6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271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9BB7A-09C3-47A9-BC54-15E58460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36154-9972-48A3-9B82-A349CEE0E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15850-8CE9-4BB9-98CF-3DE5B1752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5E82A-7A50-43F0-8C89-FB780E454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8DB8D-8617-4035-BA5B-23F20197C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6C51A-6EA9-4D4E-95D8-75483203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7ACAD6-7C8A-4DB4-9814-169F571B7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24371A-254E-42F1-B9BB-80BA815A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0220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5834-FB40-4CAC-9B84-0995141B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11A9D9-A59B-4BFC-912A-AD47BF45D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4BF373-00C9-41E0-BEBB-DE81A769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5FCC4-F168-49EE-9FE8-BF640605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8729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40890-E2B8-47EC-BEDB-9D668D0E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D02A5-C6E4-4E3A-9521-2AFDE602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BD31C-7224-45FB-BF00-D7EFEB50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143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6A88-ADC5-4559-ADFB-12F46C1B1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D104-6AFD-4BFA-A318-EA3CFB177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5A673-9A39-4237-8BFC-11F508F56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A85FB-2EF6-4894-AE5F-859FA4F2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4975B-C40E-4C0A-A7E8-8CAB41DB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0F141-126F-4BB1-8914-CC552CF7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9537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AAED-424D-4B25-811F-15DFB634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2BFD6-A79D-468A-BC18-41DDE540F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11570-FC5B-4E00-AE76-6A48B04A0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8E250-7011-401A-B225-25E85D78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7CB2E-8E4B-4AB0-89EB-0F5A5256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68101-86A7-4B10-88CA-CB923269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770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1180-2D3F-4B29-A8B7-D7D7A677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338AE-DD9F-4764-97D4-25122C898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7373E-3561-4754-9894-E23D10A83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79827-F7A7-4EC9-A374-E3F827AF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BA952-639C-4ABA-B0E8-BA1BD82A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9315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AC13A4-8B9F-4B31-8732-9546482C0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D43D0-9561-4927-B4E4-3ABA3549F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E02C2-7607-411E-9106-9971DD263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36FDC-3EA2-4480-AA5B-3BF8FCC5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6FE31-30C4-4ABA-8401-6FDD86C0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445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2EEEB-9380-4803-9B42-DCC836F22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7FE14-1DAE-4F4B-9BDB-AA2851EDE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C51D2-AEB7-46B0-965B-D151A225D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4FC46-04C8-414E-BE44-86CAA81B6CA3}" type="datetimeFigureOut">
              <a:rPr lang="en-IL" smtClean="0"/>
              <a:t>06/07/2025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36318-A6CE-4EDC-A425-318A7F872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8A5F1-B135-4D72-8982-B05CB8C82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D326A-C15F-4E61-AE7B-DB1AE5A5DF2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153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85F1DD-8355-4657-A09C-D4B17F246E30}"/>
              </a:ext>
            </a:extLst>
          </p:cNvPr>
          <p:cNvSpPr txBox="1"/>
          <p:nvPr/>
        </p:nvSpPr>
        <p:spPr>
          <a:xfrm>
            <a:off x="1320788" y="279400"/>
            <a:ext cx="10287012" cy="601755"/>
          </a:xfrm>
          <a:prstGeom prst="rect">
            <a:avLst/>
          </a:prstGeom>
          <a:solidFill>
            <a:srgbClr val="00B0F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he-IL" sz="3200" b="1" dirty="0"/>
              <a:t>אטמוספרה</a:t>
            </a:r>
            <a:endParaRPr lang="en-IL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56060-1DBB-4394-85D1-0F1D473391D2}"/>
              </a:ext>
            </a:extLst>
          </p:cNvPr>
          <p:cNvSpPr txBox="1"/>
          <p:nvPr/>
        </p:nvSpPr>
        <p:spPr>
          <a:xfrm>
            <a:off x="3784588" y="2128506"/>
            <a:ext cx="3649135" cy="584775"/>
          </a:xfrm>
          <a:prstGeom prst="rect">
            <a:avLst/>
          </a:prstGeom>
          <a:solidFill>
            <a:srgbClr val="92D050"/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he-IL" sz="3200" b="1" dirty="0"/>
              <a:t>ביוספרה</a:t>
            </a:r>
            <a:endParaRPr lang="en-IL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908DA-48EC-4D54-A78C-CD99BD81C7B7}"/>
              </a:ext>
            </a:extLst>
          </p:cNvPr>
          <p:cNvSpPr txBox="1"/>
          <p:nvPr/>
        </p:nvSpPr>
        <p:spPr>
          <a:xfrm>
            <a:off x="1473188" y="5829012"/>
            <a:ext cx="7738534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he-IL" sz="3200" b="1" dirty="0"/>
              <a:t> ליתוספרה: מינרלים בסלעים ובקרקע </a:t>
            </a:r>
            <a:r>
              <a:rPr lang="he-IL" b="1" dirty="0"/>
              <a:t>(שחרור איטי)</a:t>
            </a:r>
            <a:endParaRPr lang="en-IL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5C1BC-8722-49E3-976D-9D32A81C281A}"/>
              </a:ext>
            </a:extLst>
          </p:cNvPr>
          <p:cNvSpPr txBox="1"/>
          <p:nvPr/>
        </p:nvSpPr>
        <p:spPr>
          <a:xfrm>
            <a:off x="63479" y="1662466"/>
            <a:ext cx="1574800" cy="83099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he-IL" sz="2400" b="1" dirty="0"/>
              <a:t>זיהום אנתרופוגני</a:t>
            </a:r>
            <a:endParaRPr lang="en-IL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FCFCA9-32DB-4324-879C-95C65EF8A4D9}"/>
              </a:ext>
            </a:extLst>
          </p:cNvPr>
          <p:cNvCxnSpPr/>
          <p:nvPr/>
        </p:nvCxnSpPr>
        <p:spPr>
          <a:xfrm flipV="1">
            <a:off x="4910655" y="4563534"/>
            <a:ext cx="0" cy="126547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EA8AF8-C2B5-4041-A46C-0B91F8D1A42B}"/>
              </a:ext>
            </a:extLst>
          </p:cNvPr>
          <p:cNvCxnSpPr/>
          <p:nvPr/>
        </p:nvCxnSpPr>
        <p:spPr>
          <a:xfrm flipV="1">
            <a:off x="4910655" y="2713281"/>
            <a:ext cx="0" cy="126547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CF160C-71C5-4EB5-B27F-3880AA4E86F1}"/>
              </a:ext>
            </a:extLst>
          </p:cNvPr>
          <p:cNvCxnSpPr/>
          <p:nvPr/>
        </p:nvCxnSpPr>
        <p:spPr>
          <a:xfrm flipV="1">
            <a:off x="4631255" y="863028"/>
            <a:ext cx="0" cy="126547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4F4CE5-28B7-4462-99F0-A684631D8E90}"/>
              </a:ext>
            </a:extLst>
          </p:cNvPr>
          <p:cNvCxnSpPr>
            <a:cxnSpLocks/>
          </p:cNvCxnSpPr>
          <p:nvPr/>
        </p:nvCxnSpPr>
        <p:spPr>
          <a:xfrm flipH="1" flipV="1">
            <a:off x="2616188" y="863028"/>
            <a:ext cx="67734" cy="49659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BDC68-3B06-4C3A-A39D-BE72B86E4F9B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650056" y="4047067"/>
            <a:ext cx="1236132" cy="22408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FF7B8A-45C2-4467-A18E-D98267CB0CBF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7535322" y="3978759"/>
            <a:ext cx="948269" cy="29238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6CCEB8-525C-44EB-AB9F-55E360FBB9CE}"/>
              </a:ext>
            </a:extLst>
          </p:cNvPr>
          <p:cNvCxnSpPr>
            <a:cxnSpLocks/>
          </p:cNvCxnSpPr>
          <p:nvPr/>
        </p:nvCxnSpPr>
        <p:spPr>
          <a:xfrm>
            <a:off x="8483591" y="863028"/>
            <a:ext cx="0" cy="4965984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D65C7C-792B-4455-A521-D90978D79240}"/>
              </a:ext>
            </a:extLst>
          </p:cNvPr>
          <p:cNvCxnSpPr/>
          <p:nvPr/>
        </p:nvCxnSpPr>
        <p:spPr>
          <a:xfrm>
            <a:off x="6671722" y="863028"/>
            <a:ext cx="0" cy="126547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65A8BAE-7D46-4542-A87C-DD4151A65FD3}"/>
              </a:ext>
            </a:extLst>
          </p:cNvPr>
          <p:cNvCxnSpPr/>
          <p:nvPr/>
        </p:nvCxnSpPr>
        <p:spPr>
          <a:xfrm>
            <a:off x="6671722" y="4563534"/>
            <a:ext cx="0" cy="126547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040AA3-7A48-4318-A9A5-3E30F7F692E1}"/>
              </a:ext>
            </a:extLst>
          </p:cNvPr>
          <p:cNvCxnSpPr/>
          <p:nvPr/>
        </p:nvCxnSpPr>
        <p:spPr>
          <a:xfrm>
            <a:off x="6671722" y="2713281"/>
            <a:ext cx="0" cy="1265478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150167-5C5C-404F-BEBE-8D1BC9B2FE38}"/>
              </a:ext>
            </a:extLst>
          </p:cNvPr>
          <p:cNvCxnSpPr>
            <a:cxnSpLocks/>
          </p:cNvCxnSpPr>
          <p:nvPr/>
        </p:nvCxnSpPr>
        <p:spPr>
          <a:xfrm>
            <a:off x="7539555" y="4462222"/>
            <a:ext cx="2865967" cy="1659177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9A7250-94CF-491F-8085-04D72613D83D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211722" y="6121400"/>
            <a:ext cx="1193800" cy="10263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645C603-3433-4F0D-96E1-58B660A6610D}"/>
              </a:ext>
            </a:extLst>
          </p:cNvPr>
          <p:cNvSpPr txBox="1"/>
          <p:nvPr/>
        </p:nvSpPr>
        <p:spPr>
          <a:xfrm>
            <a:off x="8394551" y="1960791"/>
            <a:ext cx="225852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chemeClr val="accent1">
                    <a:lumMod val="75000"/>
                  </a:schemeClr>
                </a:solidFill>
              </a:rPr>
              <a:t>גשם, שלג, ואבק שוקע</a:t>
            </a:r>
            <a:endParaRPr lang="en-IL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16126C-0BF8-442A-841C-CA22A0A92807}"/>
              </a:ext>
            </a:extLst>
          </p:cNvPr>
          <p:cNvSpPr txBox="1"/>
          <p:nvPr/>
        </p:nvSpPr>
        <p:spPr>
          <a:xfrm>
            <a:off x="6684424" y="1086335"/>
            <a:ext cx="982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rgbClr val="92D050"/>
                </a:solidFill>
              </a:rPr>
              <a:t>לכידה ע"י הביוטה</a:t>
            </a:r>
            <a:endParaRPr lang="en-IL" b="1" dirty="0">
              <a:solidFill>
                <a:srgbClr val="92D05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8619B8-01D2-4F4F-8743-37BCD760D30F}"/>
              </a:ext>
            </a:extLst>
          </p:cNvPr>
          <p:cNvSpPr txBox="1"/>
          <p:nvPr/>
        </p:nvSpPr>
        <p:spPr>
          <a:xfrm>
            <a:off x="4627020" y="1036670"/>
            <a:ext cx="982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rgbClr val="92D050"/>
                </a:solidFill>
              </a:rPr>
              <a:t>שחרור ע"י הביוטה</a:t>
            </a:r>
            <a:endParaRPr lang="en-IL" b="1" dirty="0">
              <a:solidFill>
                <a:srgbClr val="92D05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B25366-4702-4210-962A-6FB1E7FCF56A}"/>
              </a:ext>
            </a:extLst>
          </p:cNvPr>
          <p:cNvSpPr txBox="1"/>
          <p:nvPr/>
        </p:nvSpPr>
        <p:spPr>
          <a:xfrm>
            <a:off x="4802722" y="2828866"/>
            <a:ext cx="982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rgbClr val="92D050"/>
                </a:solidFill>
              </a:rPr>
              <a:t>לכידה ע"י הביוטה</a:t>
            </a:r>
            <a:endParaRPr lang="en-IL" b="1" dirty="0">
              <a:solidFill>
                <a:srgbClr val="92D05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F562FF-CE9A-4889-9369-7D2378E75887}"/>
              </a:ext>
            </a:extLst>
          </p:cNvPr>
          <p:cNvSpPr txBox="1"/>
          <p:nvPr/>
        </p:nvSpPr>
        <p:spPr>
          <a:xfrm>
            <a:off x="6538348" y="3382864"/>
            <a:ext cx="13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rgbClr val="92D050"/>
                </a:solidFill>
              </a:rPr>
              <a:t>מינרליזציה</a:t>
            </a:r>
            <a:endParaRPr lang="en-IL" b="1" dirty="0">
              <a:solidFill>
                <a:srgbClr val="92D05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D3DA71-C07E-422A-A95E-1ECFFDA781CF}"/>
              </a:ext>
            </a:extLst>
          </p:cNvPr>
          <p:cNvSpPr txBox="1"/>
          <p:nvPr/>
        </p:nvSpPr>
        <p:spPr>
          <a:xfrm>
            <a:off x="6557437" y="4939583"/>
            <a:ext cx="137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chemeClr val="accent2">
                    <a:lumMod val="75000"/>
                  </a:schemeClr>
                </a:solidFill>
              </a:rPr>
              <a:t>שקיעת מינרלים</a:t>
            </a:r>
            <a:endParaRPr lang="en-I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DAFF19-DCFA-4384-9F40-0EFFB66C9954}"/>
              </a:ext>
            </a:extLst>
          </p:cNvPr>
          <p:cNvSpPr txBox="1"/>
          <p:nvPr/>
        </p:nvSpPr>
        <p:spPr>
          <a:xfrm>
            <a:off x="4614320" y="5102999"/>
            <a:ext cx="13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chemeClr val="accent2">
                    <a:lumMod val="75000"/>
                  </a:schemeClr>
                </a:solidFill>
              </a:rPr>
              <a:t>בליה</a:t>
            </a:r>
            <a:endParaRPr lang="en-I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CD6CC0-96BB-4C7C-B1CC-6A562DBC5A60}"/>
              </a:ext>
            </a:extLst>
          </p:cNvPr>
          <p:cNvSpPr txBox="1"/>
          <p:nvPr/>
        </p:nvSpPr>
        <p:spPr>
          <a:xfrm>
            <a:off x="2499753" y="1238665"/>
            <a:ext cx="1274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/>
              <a:t>גזים ואבק </a:t>
            </a:r>
          </a:p>
          <a:p>
            <a:pPr algn="ctr"/>
            <a:r>
              <a:rPr lang="he-IL" b="1" dirty="0"/>
              <a:t>מרחף</a:t>
            </a:r>
            <a:endParaRPr lang="en-IL" b="1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06A0FB8-2D6E-4E18-A5C1-83AA246A08A7}"/>
              </a:ext>
            </a:extLst>
          </p:cNvPr>
          <p:cNvCxnSpPr>
            <a:cxnSpLocks/>
          </p:cNvCxnSpPr>
          <p:nvPr/>
        </p:nvCxnSpPr>
        <p:spPr>
          <a:xfrm flipV="1">
            <a:off x="1590664" y="863028"/>
            <a:ext cx="570442" cy="8058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CB3FD0D-DCD2-42C6-8DD2-5580C5C19135}"/>
              </a:ext>
            </a:extLst>
          </p:cNvPr>
          <p:cNvCxnSpPr>
            <a:cxnSpLocks/>
          </p:cNvCxnSpPr>
          <p:nvPr/>
        </p:nvCxnSpPr>
        <p:spPr>
          <a:xfrm>
            <a:off x="1625581" y="2119389"/>
            <a:ext cx="2159007" cy="1115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0BCA72-81F0-4656-89B7-BB2EB088D889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625581" y="2260547"/>
            <a:ext cx="2260606" cy="20106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F3D84C6-F733-4B76-BB92-63B4FF611514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50879" y="2493463"/>
            <a:ext cx="918642" cy="33491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B8518D3-3904-4D51-B637-62D76F774E66}"/>
              </a:ext>
            </a:extLst>
          </p:cNvPr>
          <p:cNvSpPr txBox="1"/>
          <p:nvPr/>
        </p:nvSpPr>
        <p:spPr>
          <a:xfrm>
            <a:off x="8864587" y="3558135"/>
            <a:ext cx="1490133" cy="10156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he-IL" b="1" dirty="0" err="1"/>
              <a:t>קריוספרה</a:t>
            </a:r>
            <a:r>
              <a:rPr lang="he-IL" dirty="0"/>
              <a:t> – </a:t>
            </a:r>
            <a:r>
              <a:rPr lang="he-IL" b="1" dirty="0"/>
              <a:t>קרח</a:t>
            </a:r>
            <a:r>
              <a:rPr lang="he-IL" dirty="0"/>
              <a:t> </a:t>
            </a:r>
            <a:r>
              <a:rPr lang="he-IL" sz="1200" dirty="0"/>
              <a:t>(אנטרקטיקה, גרינלנד, קרחונים הרריים)</a:t>
            </a:r>
            <a:endParaRPr lang="en-IL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3D0FCA-E1C9-45B1-95C6-2B4CDAA22DD2}"/>
              </a:ext>
            </a:extLst>
          </p:cNvPr>
          <p:cNvCxnSpPr>
            <a:endCxn id="23" idx="1"/>
          </p:cNvCxnSpPr>
          <p:nvPr/>
        </p:nvCxnSpPr>
        <p:spPr>
          <a:xfrm>
            <a:off x="8466655" y="3978759"/>
            <a:ext cx="397932" cy="8720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67A19C-6B75-4481-8F6A-E3CFCCC91026}"/>
              </a:ext>
            </a:extLst>
          </p:cNvPr>
          <p:cNvSpPr txBox="1"/>
          <p:nvPr/>
        </p:nvSpPr>
        <p:spPr>
          <a:xfrm>
            <a:off x="10405510" y="5898261"/>
            <a:ext cx="1786490" cy="95410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he-IL" sz="2800" b="1" dirty="0"/>
              <a:t>אוקיאנוסים וימים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38DE316-22E7-42F7-8DF1-2BC2F323BDF6}"/>
              </a:ext>
            </a:extLst>
          </p:cNvPr>
          <p:cNvCxnSpPr>
            <a:cxnSpLocks/>
          </p:cNvCxnSpPr>
          <p:nvPr/>
        </p:nvCxnSpPr>
        <p:spPr>
          <a:xfrm>
            <a:off x="10550597" y="894475"/>
            <a:ext cx="49688" cy="5043078"/>
          </a:xfrm>
          <a:prstGeom prst="straightConnector1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51871B6-8B36-4F0E-A397-4333E2829C3D}"/>
              </a:ext>
            </a:extLst>
          </p:cNvPr>
          <p:cNvCxnSpPr>
            <a:cxnSpLocks/>
          </p:cNvCxnSpPr>
          <p:nvPr/>
        </p:nvCxnSpPr>
        <p:spPr>
          <a:xfrm flipV="1">
            <a:off x="10938932" y="881155"/>
            <a:ext cx="0" cy="5030426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8BA9D8A-0CA0-461A-BE2C-E1B0E128114E}"/>
              </a:ext>
            </a:extLst>
          </p:cNvPr>
          <p:cNvSpPr txBox="1"/>
          <p:nvPr/>
        </p:nvSpPr>
        <p:spPr>
          <a:xfrm>
            <a:off x="10811921" y="3461436"/>
            <a:ext cx="1261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rgbClr val="0070C0"/>
                </a:solidFill>
              </a:rPr>
              <a:t>גזים </a:t>
            </a:r>
          </a:p>
          <a:p>
            <a:pPr algn="ctr"/>
            <a:r>
              <a:rPr lang="he-IL" b="1" dirty="0">
                <a:solidFill>
                  <a:srgbClr val="0070C0"/>
                </a:solidFill>
              </a:rPr>
              <a:t>ומלח ים</a:t>
            </a:r>
            <a:endParaRPr lang="en-IL" b="1" dirty="0">
              <a:solidFill>
                <a:srgbClr val="0070C0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09EC0BA-9D3A-42A4-BE41-DF90C6A8A619}"/>
              </a:ext>
            </a:extLst>
          </p:cNvPr>
          <p:cNvCxnSpPr>
            <a:cxnSpLocks/>
          </p:cNvCxnSpPr>
          <p:nvPr/>
        </p:nvCxnSpPr>
        <p:spPr>
          <a:xfrm>
            <a:off x="1608649" y="2143156"/>
            <a:ext cx="7255937" cy="14545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8E8B58-C75B-41AC-A708-24DA8752C055}"/>
              </a:ext>
            </a:extLst>
          </p:cNvPr>
          <p:cNvCxnSpPr>
            <a:cxnSpLocks/>
          </p:cNvCxnSpPr>
          <p:nvPr/>
        </p:nvCxnSpPr>
        <p:spPr>
          <a:xfrm>
            <a:off x="1608648" y="2214845"/>
            <a:ext cx="8832887" cy="37826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A3E25BA-0BFD-4EB5-B07A-F848884B93A7}"/>
              </a:ext>
            </a:extLst>
          </p:cNvPr>
          <p:cNvSpPr txBox="1"/>
          <p:nvPr/>
        </p:nvSpPr>
        <p:spPr>
          <a:xfrm rot="1838649">
            <a:off x="8681663" y="5548169"/>
            <a:ext cx="1557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b="1" dirty="0">
                <a:solidFill>
                  <a:schemeClr val="accent5">
                    <a:lumMod val="75000"/>
                  </a:schemeClr>
                </a:solidFill>
              </a:rPr>
              <a:t>זרימה עם מי שטח ומי תהום</a:t>
            </a:r>
            <a:endParaRPr lang="en-IL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D825C2-F65F-47F3-803B-DC8539214AD3}"/>
              </a:ext>
            </a:extLst>
          </p:cNvPr>
          <p:cNvSpPr txBox="1"/>
          <p:nvPr/>
        </p:nvSpPr>
        <p:spPr>
          <a:xfrm rot="4610910">
            <a:off x="9620042" y="4943500"/>
            <a:ext cx="155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dirty="0">
                <a:solidFill>
                  <a:schemeClr val="accent1"/>
                </a:solidFill>
              </a:rPr>
              <a:t>הפשרה/קפיאה</a:t>
            </a:r>
            <a:endParaRPr lang="en-IL" dirty="0">
              <a:solidFill>
                <a:schemeClr val="accent1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3F99949-7C44-46B6-9506-B1E36060871A}"/>
              </a:ext>
            </a:extLst>
          </p:cNvPr>
          <p:cNvCxnSpPr/>
          <p:nvPr/>
        </p:nvCxnSpPr>
        <p:spPr>
          <a:xfrm>
            <a:off x="10084433" y="4573798"/>
            <a:ext cx="357102" cy="133778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442B0C4-9116-4939-AF89-DCD78681F8DA}"/>
              </a:ext>
            </a:extLst>
          </p:cNvPr>
          <p:cNvSpPr txBox="1"/>
          <p:nvPr/>
        </p:nvSpPr>
        <p:spPr>
          <a:xfrm>
            <a:off x="3886187" y="3978759"/>
            <a:ext cx="3649135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 rtl="1"/>
            <a:r>
              <a:rPr lang="he-IL" sz="3200" b="1" dirty="0"/>
              <a:t>קרקע </a:t>
            </a:r>
            <a:r>
              <a:rPr lang="he-IL" b="1" dirty="0"/>
              <a:t>(החלק הזמין)</a:t>
            </a:r>
            <a:endParaRPr lang="en-IL" sz="3200" b="1" dirty="0"/>
          </a:p>
        </p:txBody>
      </p:sp>
    </p:spTree>
    <p:extLst>
      <p:ext uri="{BB962C8B-B14F-4D97-AF65-F5344CB8AC3E}">
        <p14:creationId xmlns:p14="http://schemas.microsoft.com/office/powerpoint/2010/main" val="407741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2" descr="bot7e_fig_05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6751638" cy="624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8112126" y="22900"/>
            <a:ext cx="2555875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biogeochemical cycle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complete path that a chemical goes through the four major parts of the Earth’s system: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Atmosphere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Hydrosphere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Lithosphere</a:t>
            </a:r>
            <a:r>
              <a:rPr lang="en-US" altLang="en-US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US" altLang="en-US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Biosphere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281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93</Words>
  <Application>Microsoft Office PowerPoint</Application>
  <PresentationFormat>Widescreen</PresentationFormat>
  <Paragraphs>23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yigal erel</dc:creator>
  <cp:lastModifiedBy>yigal erel</cp:lastModifiedBy>
  <cp:revision>9</cp:revision>
  <dcterms:created xsi:type="dcterms:W3CDTF">2025-07-05T11:08:04Z</dcterms:created>
  <dcterms:modified xsi:type="dcterms:W3CDTF">2025-07-06T06:43:48Z</dcterms:modified>
</cp:coreProperties>
</file>